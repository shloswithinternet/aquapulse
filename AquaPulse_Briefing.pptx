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risk by hazard mix (illustrative)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Sheet1!$A$2:$A$6</c:f>
              <c:strCache>
                <c:ptCount val="5"/>
                <c:pt idx="0">
                  <c:v>Drought</c:v>
                </c:pt>
                <c:pt idx="1">
                  <c:v>Heatwave</c:v>
                </c:pt>
                <c:pt idx="2">
                  <c:v>Flood</c:v>
                </c:pt>
                <c:pt idx="3">
                  <c:v>Cyclone</c:v>
                </c:pt>
                <c:pt idx="4">
                  <c:v>Quake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0.18</c:v>
                </c:pt>
                <c:pt idx="2">
                  <c:v>0.55</c:v>
                </c:pt>
                <c:pt idx="3">
                  <c:v>0.61</c:v>
                </c:pt>
                <c:pt idx="4">
                  <c:v>0.09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0233A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Cities by water status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Sheet1!$A$2:$A$6</c:f>
              <c:strCache>
                <c:ptCount val="5"/>
                <c:pt idx="0">
                  <c:v>Balanced</c:v>
                </c:pt>
                <c:pt idx="1">
                  <c:v>Severe abundance</c:v>
                </c:pt>
                <c:pt idx="2">
                  <c:v>Scarcity</c:v>
                </c:pt>
                <c:pt idx="3">
                  <c:v>Abundance</c:v>
                </c:pt>
                <c:pt idx="4">
                  <c:v>Severe scarcity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119</c:v>
                </c:pt>
                <c:pt idx="2">
                  <c:v>217</c:v>
                </c:pt>
                <c:pt idx="3">
                  <c:v>185</c:v>
                </c:pt>
                <c:pt idx="4">
                  <c:v>42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0233A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FC9CF"/>
                </a:solidFill>
                <a:latin typeface="Segoe UI"/>
              </a:rPr>
              <a:t>SE SMART CITY  ·  PROBLEM STATEMENT: SMART WATER REDISTRIBUTION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AquaPulse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9D6E4"/>
                </a:solidFill>
                <a:latin typeface="Segoe UI"/>
              </a:rPr>
              <a:t>An ML system that predicts water demand zone by zone, detects abnormal
consumption, predicts shortage, and recommends how to redistribute supply.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77639"/>
            <a:ext cx="5120640" cy="18288"/>
          </a:xfrm>
          <a:prstGeom prst="rect">
            <a:avLst/>
          </a:prstGeom>
          <a:solidFill>
            <a:srgbClr val="33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8FC9CF"/>
                </a:solidFill>
                <a:latin typeface="Segoe UI"/>
              </a:rPr>
              <a:t>One model for every city  ·  584 cities · 2665 zones · 36 states &amp; UTs
Weather · economics · disaster · population factors  ·  Live monitoring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B7F"/>
                </a:solidFill>
                <a:latin typeface="Segoe UI"/>
              </a:rPr>
              <a:t>Technical briefing  ·  model, architecture, algorithm, factors,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Water is lost because cities see demand only after it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300">
                <a:solidFill>
                  <a:srgbClr val="10233A"/>
                </a:solidFill>
                <a:latin typeface="Segoe UI"/>
              </a:rPr>
              <a:t>Water consumption changes with the hour, the day, the season, the weather and previous consumption patterns.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300">
                <a:solidFill>
                  <a:srgbClr val="10233A"/>
                </a:solidFill>
                <a:latin typeface="Segoe UI"/>
              </a:rPr>
              <a:t>Cities act on consumption only after the fact, so some zones run dry while others hold surplus.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300">
                <a:solidFill>
                  <a:srgbClr val="10233A"/>
                </a:solidFill>
                <a:latin typeface="Segoe UI"/>
              </a:rPr>
              <a:t>Unusual consumption (leaks, bursts, sudden spikes) goes unnoticed until it is expensive.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3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300">
                <a:solidFill>
                  <a:srgbClr val="10233A"/>
                </a:solidFill>
                <a:latin typeface="Segoe UI"/>
              </a:rPr>
              <a:t>Supply is finite: the real question is not 'how much water exists' but 'how do we move what we have to where it is needed'.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371600"/>
            <a:ext cx="5212080" cy="4846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WHAT THE BRIEF ASKS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1168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Demand prediction per zone for upcoming hours.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Abnormal consumption detection, highlighted in the UI.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Shortage prediction: demand vs supply, per zone.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Supply redistribution recommendation, prioritising high-demand, high-risk zones.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892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87A0A"/>
                </a:solidFill>
                <a:latin typeface="Segoe UI"/>
              </a:rPr>
              <a:t>BROWNIE POINTS WE COVERED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530352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C87A0A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Change supply and re-solve the plan.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C87A0A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Zones on a map with demand &amp; risk.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C87A0A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Weather as a factor in demand.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Source: supplied problem statement and 'Suggested Approach' (SE Smart City).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Four required pillars, plus the factors that make the plan realistic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724912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724912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Segoe UI"/>
              </a:rPr>
              <a:t>1  Demand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93392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C3350"/>
                </a:solidFill>
                <a:latin typeface="Segoe UI"/>
              </a:rPr>
              <a:t>One global model forecasts the next 24 h of demand for every zone.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371600"/>
            <a:ext cx="2724912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371600"/>
            <a:ext cx="2724912" cy="82296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5727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6CA8"/>
                </a:solidFill>
                <a:latin typeface="Segoe UI"/>
              </a:rPr>
              <a:t>2  Abnormal consumption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993392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C3350"/>
                </a:solidFill>
                <a:latin typeface="Segoe UI"/>
              </a:rPr>
              <a:t>Residual + isolation-forest detection flags zones behaving unusually.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3" y="1371600"/>
            <a:ext cx="2724912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3" y="1371600"/>
            <a:ext cx="2724912" cy="82296"/>
          </a:xfrm>
          <a:prstGeom prst="rect">
            <a:avLst/>
          </a:prstGeom>
          <a:solidFill>
            <a:srgbClr val="C8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15727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7A0A"/>
                </a:solidFill>
                <a:latin typeface="Segoe UI"/>
              </a:rPr>
              <a:t>3  Shortage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1993392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C3350"/>
                </a:solidFill>
                <a:latin typeface="Segoe UI"/>
              </a:rPr>
              <a:t>Forecast demand vs deliverable supply, per zone, with a risk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5" y="1371600"/>
            <a:ext cx="2724912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34855" y="1371600"/>
            <a:ext cx="2724912" cy="82296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157276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8A4C"/>
                </a:solidFill>
                <a:latin typeface="Segoe UI"/>
              </a:rPr>
              <a:t>4  Supply redistribution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1993392"/>
            <a:ext cx="2377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C3350"/>
                </a:solidFill>
                <a:latin typeface="Segoe UI"/>
              </a:rPr>
              <a:t>A linear program re-allocates the same water, prioritising risk.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00400"/>
            <a:ext cx="11091672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832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33A"/>
                </a:solidFill>
                <a:latin typeface="Segoe UI"/>
              </a:rPr>
              <a:t>EXTENDED FACTOR SET  —  what decides abundance and scarcity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947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886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Weather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417880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rainfall recharges supply, heat raises demand; optional live feed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7947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2463" y="3886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Economics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2463" y="417880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tariff, pumping energy, treatment cost; a cost-aware allocation mode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947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3886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Abundance / scarcity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17880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a 0-100 index and band with explicit drivers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7947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38862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Shortage AND excess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417880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both ends of the supply chain, per zone and city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846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49377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Divergence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routes surplus to shortage within and between cities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846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2463" y="49377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Disaster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3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hazard profile by climate and season; blended expected effects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846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49377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Population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annual growth/decay and a 10-year demand projection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52560" y="4846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98864" y="49377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Assistant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98864" y="523036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C3350"/>
                </a:solidFill>
                <a:latin typeface="Segoe UI"/>
              </a:rPr>
              <a:t>grounded question-answering over the computed 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Pillars 1-4 are the brief's required outputs; the factor set is what makes the recommendation defensible.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BASE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Five layers, one direction of flow, one source of truth for 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98448"/>
            <a:ext cx="1109167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98448"/>
            <a:ext cx="82296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1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Segoe UI"/>
              </a:rPr>
              <a:t>LAYER 1 ·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417319"/>
            <a:ext cx="8321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C3350"/>
                </a:solidFill>
                <a:latin typeface="Segoe UI"/>
              </a:rPr>
              <a:t>Hourly water use per zone + weather + reservoir + tariff + population. Synthetic demo now; real sources plug in unchanged (Kaggle DM1718, Smart Cities Open Data, IMD).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2203704"/>
            <a:ext cx="274320" cy="54864"/>
          </a:xfrm>
          <a:prstGeom prst="downArrow">
            <a:avLst/>
          </a:prstGeom>
          <a:solidFill>
            <a:srgbClr val="C3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267712"/>
            <a:ext cx="1109167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82296" cy="896112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8658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6CA8"/>
                </a:solidFill>
                <a:latin typeface="Segoe UI"/>
              </a:rPr>
              <a:t>LAYER 2 ·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386584"/>
            <a:ext cx="8321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C3350"/>
                </a:solidFill>
                <a:latin typeface="Segoe UI"/>
              </a:rPr>
              <a:t>One shared table for every city: hour, day, month, weather, reservoir, tariff, energy/kL, lags and rolling stats, population, climate one-hot.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3172968"/>
            <a:ext cx="274320" cy="54864"/>
          </a:xfrm>
          <a:prstGeom prst="downArrow">
            <a:avLst/>
          </a:prstGeom>
          <a:solidFill>
            <a:srgbClr val="C3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236976"/>
            <a:ext cx="1109167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36976"/>
            <a:ext cx="82296" cy="896112"/>
          </a:xfrm>
          <a:prstGeom prst="rect">
            <a:avLst/>
          </a:prstGeom>
          <a:solidFill>
            <a:srgbClr val="1C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558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3350"/>
                </a:solidFill>
                <a:latin typeface="Segoe UI"/>
              </a:rPr>
              <a:t>LAYER 3 ·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355848"/>
            <a:ext cx="8321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C3350"/>
                </a:solidFill>
                <a:latin typeface="Segoe UI"/>
              </a:rPr>
              <a:t>Global demand model (HistGradientBoosting)  ·  anomaly detection  ·  factor engines: abundance, disaster, population.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0" y="4142232"/>
            <a:ext cx="274320" cy="54864"/>
          </a:xfrm>
          <a:prstGeom prst="downArrow">
            <a:avLst/>
          </a:prstGeom>
          <a:solidFill>
            <a:srgbClr val="C3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1109167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82296" cy="896112"/>
          </a:xfrm>
          <a:prstGeom prst="rect">
            <a:avLst/>
          </a:prstGeom>
          <a:solidFill>
            <a:srgbClr val="C8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251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87A0A"/>
                </a:solidFill>
                <a:latin typeface="Segoe UI"/>
              </a:rPr>
              <a:t>LAYER 4 ·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325112"/>
            <a:ext cx="8321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C3350"/>
                </a:solidFill>
                <a:latin typeface="Segoe UI"/>
              </a:rPr>
              <a:t>Shortage &amp; excess supply chain  ·  divergence routing (excess to shortage)  ·  linear-program redistribution (shortage / cost modes).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43600" y="5111496"/>
            <a:ext cx="274320" cy="54864"/>
          </a:xfrm>
          <a:prstGeom prst="downArrow">
            <a:avLst/>
          </a:prstGeom>
          <a:solidFill>
            <a:srgbClr val="C3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175504"/>
            <a:ext cx="11091672" cy="89611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75504"/>
            <a:ext cx="82296" cy="896112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29437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8A4C"/>
                </a:solidFill>
                <a:latin typeface="Segoe UI"/>
              </a:rPr>
              <a:t>LAYER 5 ·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294376"/>
            <a:ext cx="8321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C3350"/>
                </a:solidFill>
                <a:latin typeface="Segoe UI"/>
              </a:rPr>
              <a:t>Multi-city dashboard (city tabs + right-hand factor window + map)  ·  Water Assistant  ·  FastAPI for scenarios and live weather.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43600" y="6080760"/>
            <a:ext cx="274320" cy="54864"/>
          </a:xfrm>
          <a:prstGeom prst="downArrow">
            <a:avLst/>
          </a:prstGeom>
          <a:solidFill>
            <a:srgbClr val="C3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Every layer is a separate module; the supply/demand basis is computed once and reused everywhere.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DATA &amp;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The same feature vector is built for every city, so one model serves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57607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362711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Field group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Examples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hour, day of week, month, weekend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Weather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temperature, rainfall, humidity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Water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reservoir level, tariff, pump energy/kL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History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lag 1 h, lag 24 h, lag 168 h, rolling mean &amp; std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City meta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population, per-capita norm, latitude, climate one-hot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37960" y="1371600"/>
            <a:ext cx="5120640" cy="2743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53619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192024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Named in the brief: Kaggle DM1718 Water Consumption.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Smart Cities Open Data Portal (Bengaluru, Gangtok, Pune).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IMD weather API / imdlib for temperature and rainfall.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Open-Meteo for live weather (optional, cached).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Demo runs on a generator with the identical schema.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7033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Provenance: every derived value carries kind (measured / estimated / manual / illustrative) and a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1109167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0233A"/>
                </a:solidFill>
                <a:latin typeface="Segoe UI"/>
              </a:rPr>
              <a:t>Key design choice - geography as a feature, not an identity.
The model never sees a city name. A Mumbai zone and a Surat zone are described by the same numbers: hour, temperature,
rainfall, population, per-capita norm, climate type. Because of this, a model trained on a set of cities predicts a city it has
never been trained on - which is how one model covers all 584 cities without retraining.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Schema is stable: swapping the generator for a real adapter changes nothing downstream.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ML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One global gradient-boosted model, trained across cities, predicts any city's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Algorithm: HistGradientBoostingRegressor (scikit-learn).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Handles missing values, mixed feature types and non-linear interactions with little tuning.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Faster and transfers better to a new city with little data than a deep model.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Target: hourly demand per zone (kilolitres).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Prediction horizon: next 24 hours (configurable).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6CA8"/>
                </a:solidFill>
                <a:latin typeface="Segoe UI"/>
              </a:rPr>
              <a:t>WHY ONE MODEL, NOT ONE PER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A new city needs no local training to get a forecast (zero-shot).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With a week of local data it improves (few-shot).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Cities with similar meta-features act as donors.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371600"/>
            <a:ext cx="51206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554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TRAINING PIPELINE</a:t>
            </a:r>
          </a:p>
        </p:txBody>
      </p:sp>
      <p:sp>
        <p:nvSpPr>
          <p:cNvPr id="15" name="Oval 14"/>
          <p:cNvSpPr/>
          <p:nvPr/>
        </p:nvSpPr>
        <p:spPr>
          <a:xfrm>
            <a:off x="6784848" y="2011680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204825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299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Generate / load multi-city hourly data</a:t>
            </a:r>
          </a:p>
        </p:txBody>
      </p:sp>
      <p:sp>
        <p:nvSpPr>
          <p:cNvPr id="18" name="Oval 17"/>
          <p:cNvSpPr/>
          <p:nvPr/>
        </p:nvSpPr>
        <p:spPr>
          <a:xfrm>
            <a:off x="6784848" y="2560320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59689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57860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Build the shared feature table</a:t>
            </a:r>
          </a:p>
        </p:txBody>
      </p:sp>
      <p:sp>
        <p:nvSpPr>
          <p:cNvPr id="21" name="Oval 20"/>
          <p:cNvSpPr/>
          <p:nvPr/>
        </p:nvSpPr>
        <p:spPr>
          <a:xfrm>
            <a:off x="6784848" y="3108960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314553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12724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Chronological train / hold-out split (last 48 h held out)</a:t>
            </a:r>
          </a:p>
        </p:txBody>
      </p:sp>
      <p:sp>
        <p:nvSpPr>
          <p:cNvPr id="24" name="Oval 23"/>
          <p:cNvSpPr/>
          <p:nvPr/>
        </p:nvSpPr>
        <p:spPr>
          <a:xfrm>
            <a:off x="6784848" y="3657600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69417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7588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Fit the global model on all training cities</a:t>
            </a:r>
          </a:p>
        </p:txBody>
      </p:sp>
      <p:sp>
        <p:nvSpPr>
          <p:cNvPr id="27" name="Oval 26"/>
          <p:cNvSpPr/>
          <p:nvPr/>
        </p:nvSpPr>
        <p:spPr>
          <a:xfrm>
            <a:off x="6784848" y="4206240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242816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22452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Evaluate on the hold-out; report MAE, RMSE, MAPE, R2</a:t>
            </a:r>
          </a:p>
        </p:txBody>
      </p:sp>
      <p:sp>
        <p:nvSpPr>
          <p:cNvPr id="30" name="Oval 29"/>
          <p:cNvSpPr/>
          <p:nvPr/>
        </p:nvSpPr>
        <p:spPr>
          <a:xfrm>
            <a:off x="6784848" y="4754879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4791455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77316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Refit on all data; forecast every city</a:t>
            </a:r>
          </a:p>
        </p:txBody>
      </p:sp>
      <p:sp>
        <p:nvSpPr>
          <p:cNvPr id="33" name="Oval 32"/>
          <p:cNvSpPr/>
          <p:nvPr/>
        </p:nvSpPr>
        <p:spPr>
          <a:xfrm>
            <a:off x="6784848" y="5303519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5340095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321807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Cross-city transfer test on a held-out 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Validation is chronological - no shuffling of a time series; lags and rolling stats use past values only (no leakage).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WHERE AND HOW IT WAS 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Trained on this machine, on the generated multi-city series, reproducibly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9167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834"/>
                <a:gridCol w="8570837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Training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Synthetic multi-city hourly series (identical schema to real sources)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Benchmark run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16 cities x 30 days hourly  =  105,432 feature rows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National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584 cities x 10 days hourly  =  193,392 feature rows, 2665 zones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HistGradientBoostingRegressor, max_iter 300, learning rate 0.06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Python 3.12, scikit-learn 1.9, single-threaded for reproducibility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Split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Chronological: last 48 hours held out, never shuffled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Reproduce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python src/pipeline.py  (all cities)  ·  --demo for the 16-city 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892040"/>
            <a:ext cx="11091672" cy="14630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3350"/>
                </a:solidFill>
                <a:latin typeface="Segoe UI"/>
              </a:rPr>
              <a:t>Honest note on data.  No real city dataset was supplied with the brief, so the system is trained on a synthetic series that
mirrors the named sources' columns. Every row is labelled SYNTHETIC_DEMO. The method transfers to real data unchanged -
replace the generator with an adapter and re-run; no model code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The accuracy figures therefore describe the model on synthetic data; they are reported, not asserted as real-world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Where the ML passes: hold-out and held-out-city accuracy, plus 43 automated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9961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E7C86"/>
                </a:solidFill>
                <a:latin typeface="Segoe UI"/>
              </a:rPr>
              <a:t>12.07%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MAPE (hold-out, 584 cities)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71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54864" cy="13716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49961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6CA8"/>
                </a:solidFill>
                <a:latin typeface="Segoe UI"/>
              </a:rPr>
              <a:t>0.9522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17627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R-squared (hold-out)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4864" cy="137160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49961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8A4C"/>
                </a:solidFill>
                <a:latin typeface="Segoe UI"/>
              </a:rPr>
              <a:t>6.62%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176272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MAPE on unseen city (Surat)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371600"/>
            <a:ext cx="2587752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371600"/>
            <a:ext cx="54864" cy="1371600"/>
          </a:xfrm>
          <a:prstGeom prst="rect">
            <a:avLst/>
          </a:prstGeom>
          <a:solidFill>
            <a:srgbClr val="C8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499616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87A0A"/>
                </a:solidFill>
                <a:latin typeface="Segoe UI"/>
              </a:rPr>
              <a:t>43 / 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176272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automated tests passing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971800"/>
          <a:ext cx="57607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247"/>
                <a:gridCol w="1800225"/>
                <a:gridCol w="1980247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Hold-out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Unseen city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MAE (kL)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78.174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331.497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RMSE (kL)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675.356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502.383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MAPE 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12.07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6.62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R-squared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0.9522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0.9739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Few-shot (7 d local)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n/a (short window)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6537960" y="2971800"/>
            <a:ext cx="5120640" cy="2743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WHAT THE TESTS 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356616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No data leakage: lag and rolling features use past values only.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Shortage and excess reconcile with the balance.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The optimiser never exceeds available supply and respects every constraint.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Divergence conserves water and respects the transfer cap.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Disaster, population and abundance factors behave within bounds.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The API returns correct results and honest errors.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MAPE is higher across all 584 cities than on the 16-city benchmark because many very small towns have low demand denominators; R-squared stays high (0.9522).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AUTOMATED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43 tests, run on every change - this is the evidence the model 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9167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195"/>
                <a:gridCol w="6285280"/>
                <a:gridCol w="240319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is asserted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Forecasting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Lag/rolling features use only the past; metrics computed correctly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test_features.py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Factors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City registry integrity, unique names, growth bounds, hazard normalisation, abundance bands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test_factors.py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Shortage &amp; excess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Balance = supply - demand = excess - shortage; zero-demand 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test_shortage_excess.py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Redistribution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Never exceeds supply; respects floor and ceiling; priority shifts allocation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test_redistribution.py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Divergence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Conserves water, respects the transfer cap and the distance 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test_divergence.py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Economics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Cost maths, provenance, manual overrides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test_economics.py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Assistant &amp;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Grounded answers, 404/400 handling, scenario recalculation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test_assistant_api.py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33A"/>
                </a:solidFill>
                <a:latin typeface="Segoe UI"/>
              </a:rPr>
              <a:t>Run:  python -m pytest        Result:  43 passed.  Unavailable live data never crashes the app and is never replaced by fabricated measurements.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Tests are part of the deliverable and run in CI-style on every pipeline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REAL-TIME FACTOR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Population growth and decay drive demand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Each city carries an annual growth rate derived transparently from its size and climate.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Demand is projected as population x per-capita norm, so a growing city needs more water next year.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Large metros grow a little slower in percentage terms; small remote and hill towns can decline.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The model projects 1, 3, 5 and 10 years ahead and reports the demand multiplier.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50">
                <a:solidFill>
                  <a:srgbClr val="10233A"/>
                </a:solidFill>
                <a:latin typeface="Segoe UI"/>
              </a:rPr>
              <a:t>The current view uses a 1-year factor; the 10-year outlook is shown alongside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HOW IT IS COMPUTED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6596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population(t) = population(0) x (1 + g)^t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demand_factor(t) = (1 + g)^t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g from city size, with a decline only for small highland towns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Result labelled as an illustrative projection, not a census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246120"/>
          <a:ext cx="1109166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1321"/>
                <a:gridCol w="1674214"/>
                <a:gridCol w="2092768"/>
                <a:gridCol w="2092768"/>
                <a:gridCol w="2720598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City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Pop (M)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Growth / yr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Trend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10-yr demand factor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Bengaluru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12.5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+1.5%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growing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Mumbai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20.7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+1.3%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slow-growing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1.14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Jaipur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+1.8%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growing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Guwahati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+2.1%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growing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1.23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Srinagar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+2.0%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growing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Illustrative model from city size and climate - shown so the projection is inspectable, not hidden.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REAL-TIME FACTOR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Natural-disaster monitoring by location and climate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Every city has a hazard profile - drought, heatwave, flood, cyclone, earthquake - set by its climate zone.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Likelihood is weighted by season: monsoon raises flood and cyclone; pre-monsoon raises heat and drought.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Each hazard moves BOTH supply and demand (for example, drought cuts supply to 0.70 and raises demand to 1.10).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Effects are blended with the (more likely) 'no disaster' case, so a city is not permanently penalised.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Output: a 0-1 composite risk, the dominant hazard, and expected supply/demand multipliers.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HAZARD EFFECT (multiplicative)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10528" y="2011680"/>
          <a:ext cx="493776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440180"/>
                <a:gridCol w="1440180"/>
              </a:tblGrid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Hazard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Supply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Demand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Drought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0.70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Heatwave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1.25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Flood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Cyclone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0233A"/>
                          </a:solidFill>
                          <a:latin typeface="Segoe UI"/>
                        </a:rPr>
                        <a:t>1.02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63640" y="3383280"/>
          <a:ext cx="539496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Rule-based planning factor from climate and season - NOT a live disaster warning feed.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REAL-TIME FACTOR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Water-supply and climate monitoring for each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Effective supply = gross capacity x 0.65 (treatment, transmission and non-revenue-water losses).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A climate-supply factor then reflects reliability: river-fed and monsoon cities carry more than arid inland cities.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Live weather (optional) recharges the supply factor and raises demand through heat.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Reservoir level is compared with each city's normal level to scale deliverable supply.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2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200">
                <a:solidFill>
                  <a:srgbClr val="10233A"/>
                </a:solidFill>
                <a:latin typeface="Segoe UI"/>
              </a:rPr>
              <a:t>Shortage and excess are computed per zone against this single, consistent supply basis.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727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CLIMATE-SUPPLY RELIABILITY FACTOR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10528" y="205740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12344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Climate zone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Factor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Tropical-wet / coastal / humid-subtropical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2.13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Temperate highland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1.53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Tropical dry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Semi-arid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1.13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Arid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0233A"/>
                          </a:solidFill>
                          <a:latin typeface="Segoe UI"/>
                        </a:rPr>
                        <a:t>0.86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10528" y="47091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C3350"/>
                </a:solidFill>
                <a:latin typeface="Segoe UI"/>
              </a:rPr>
              <a:t>This produces the realistic gradient the plan relies on: coastal and river-fed cities are water-rich, arid inland cities are
stressed - so there is genuine excess to move toward genuine shortage.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Supply figures are illustrative; the method is what matters. Live weather is fetched per city and degrades gracefully offline.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SUPPLY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Shortage AND excess, then divergence routes one to the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916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0233A"/>
                </a:solidFill>
                <a:latin typeface="Segoe UI"/>
              </a:rPr>
              <a:t>shortage = max(0, demand - supply)      excess = max(0, supply - demand)      balance = supply - demand
balance = excess - shortage   (so every number on every screen reconciles)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5146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2514600"/>
            <a:ext cx="5349240" cy="3200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69748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DIVERGENCE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108960"/>
            <a:ext cx="4892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Matches surplus zones to deficit zones within a city.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Where a city cannot fix its own deficit, it looks to a nearby city.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Respects a transferable fraction, network losses and a distance cap.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Divergence index measures how unevenly water is spread.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B6CA8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Result on the national run: 227 inter-city transfers proposed.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Transfers are planning suggestions, not instructions; the plan always requires human approval.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REDISTRIBUTION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A linear program re-allocates the same water, with a lifeline for every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FORMULATION (SciPy linprog, HiGHS)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21208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0233A"/>
                </a:solidFill>
                <a:latin typeface="Consolas"/>
              </a:rPr>
              <a:t>variables:  x_i  water allocated to zone i
            u_i  unmet demand in zone i
minimise:    sum( w_i * u_i )            [priority-weighted unmet demand]
             + lambda * operating_cost   [cost-aware mode]
subject to:  x_i + u_i  &gt;= d_i           [meet demand as far as possible]
             sum(x_i)   &lt;= S             [cannot exceed available supply]
             0.60 d_i   &lt;= x_i &lt;= 1.15 d_i   [lifeline floor, pipe ceiling]
w_i = 0.5 + shortage_risk_i              [prioritise at-risk zones]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37160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554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TWO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96596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Shortage-prioritised: minimise weighted unmet demand (service first).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150">
                <a:solidFill>
                  <a:srgbClr val="10233A"/>
                </a:solidFill>
                <a:latin typeface="Segoe UI"/>
              </a:rPr>
              <a:t>Cost-aware: accept slightly more unmet demand if it saves pumping and treatment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749039"/>
            <a:ext cx="5120640" cy="2377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39319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GUARANTEES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34340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F8A4C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Never allocates more than the available supply.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F8A4C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No zone is starved below its lifeline when a feasible plan exists.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F8A4C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Infeasible problems are reported, never faked.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1F8A4C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Requires human approval before any operational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The optimiser is decision support: it never controls infrastructure directly.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USER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Ten pages, one selected city, charts on every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544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THE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6596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1 City Overview - national KPIs, map, most-stressed cities, snapshot.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2 Demand Forecast - observed vs predicted, 7-day forecast, population to water ratio.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3 Weather &amp; Climate - live weather, stored series, reservoir, hazard profile.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4 Crisis Prediction - crisis level, drivers, ordered emergency plan.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5 Divergence &amp; Routing - nearest water-rich city with distance and direction, route map, essential-service protection.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6 Storage &amp; Allotment - buffer days, what to hold for a crisis, what to release.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7 Urbanization - urban growth, rural and forest land converted, extra demand.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8 Compare Dates - a future date against a historical date.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9 Abnormal Consumption - flagged zone-hours feeding the crisis plan.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0E7C86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10 Economics - tariffs, energy, treatment cost with provenance.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37160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5544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Segoe UI"/>
              </a:rPr>
              <a:t>HOW YOU DRIVE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96596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Search any of the 584 cities; every page re-renders for it.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Left navigation switches pages; pages deep-link as #page/City.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100" b="1">
                <a:solidFill>
                  <a:srgbClr val="0E7C86"/>
                </a:solidFill>
                <a:latin typeface="Segoe UI"/>
              </a:rPr>
              <a:t>•  </a:t>
            </a:r>
            <a:r>
              <a:rPr sz="1100">
                <a:solidFill>
                  <a:srgbClr val="10233A"/>
                </a:solidFill>
                <a:latin typeface="Segoe UI"/>
              </a:rPr>
              <a:t>Water Assistant chat answers from the computed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84048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4023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87A0A"/>
                </a:solidFill>
                <a:latin typeface="Segoe UI"/>
              </a:rPr>
              <a:t>BROWNIE POINTS - MAPPED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43484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C87A0A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Change supply -&gt; the plan re-solves.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C87A0A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Zones on a map with demand and risk.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C87A0A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Future period compared with history.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C87A0A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Weather as a factor, live per city.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C87A0A"/>
                </a:solidFill>
                <a:latin typeface="Segoe UI"/>
              </a:rPr>
              <a:t>•  </a:t>
            </a:r>
            <a:r>
              <a:rPr sz="1050">
                <a:solidFill>
                  <a:srgbClr val="10233A"/>
                </a:solidFill>
                <a:latin typeface="Segoe UI"/>
              </a:rPr>
              <a:t>Clear charts on every page.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Open results/dashboard.html directly, or serve it via the API for live weather and the assistant.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C9CF"/>
                </a:solidFill>
                <a:latin typeface="Segoe UI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584 cities, 2665 zones, every state and union territory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384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8FC9CF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" cy="1280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9961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E7C86"/>
                </a:solidFill>
                <a:latin typeface="Segoe UI"/>
              </a:rPr>
              <a:t>584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8483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cities monitored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7160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54864" cy="128016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49961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6CA8"/>
                </a:solidFill>
                <a:latin typeface="Segoe UI"/>
              </a:rPr>
              <a:t>2665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08483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metered zones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4864" cy="1280160"/>
          </a:xfrm>
          <a:prstGeom prst="rect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499616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8A4C"/>
                </a:solidFill>
                <a:latin typeface="Segoe U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08483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states &amp; 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371600"/>
            <a:ext cx="2587752" cy="12801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4EC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371600"/>
            <a:ext cx="54864" cy="1280160"/>
          </a:xfrm>
          <a:prstGeom prst="rect">
            <a:avLst/>
          </a:prstGeom>
          <a:solidFill>
            <a:srgbClr val="C8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499616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87A0A"/>
                </a:solidFill>
                <a:latin typeface="Segoe UI"/>
              </a:rPr>
              <a:t>878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084831"/>
            <a:ext cx="22677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7F"/>
                </a:solidFill>
                <a:latin typeface="Segoe UI"/>
              </a:rPr>
              <a:t>zones at risk now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2880360"/>
          <a:ext cx="1109166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00"/>
                <a:gridCol w="1529885"/>
                <a:gridCol w="1529885"/>
                <a:gridCol w="2294828"/>
                <a:gridCol w="3059771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Run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Cities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Zones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Feature rows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anchor="ctr">
                    <a:solidFill>
                      <a:srgbClr val="1023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Benchmark (--demo)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105,432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results/metrics.json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National (default)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584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2665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193,392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results/bundle.json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Cross-city transfers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227 routes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0233A"/>
                          </a:solidFill>
                          <a:latin typeface="Segoe UI"/>
                        </a:rPr>
                        <a:t>results/bundle.json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C3350"/>
                </a:solidFill>
                <a:latin typeface="Segoe UI"/>
              </a:rPr>
              <a:t>From Leh and Kargil in the north to Tirunelveli in the south, Bhuj in the west to Itanagar in the east.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9282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B7F"/>
                </a:solidFill>
                <a:latin typeface="Segoe UI"/>
              </a:rPr>
              <a:t>Adding a city is one line in the registry; the same model serves it with no retraining.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C9CF"/>
                </a:solidFill>
                <a:latin typeface="Segoe UI"/>
              </a:rPr>
              <a:t>IN ONE BREATH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FFFFFF"/>
                </a:solidFill>
                <a:latin typeface="Segoe UI"/>
              </a:rPr>
              <a:t>It predicts water demand, finds shortage AND excess, explains why
with weather, economics, disaster and population, and routes water
from where it is surplus to where it is short.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5120640" cy="18288"/>
          </a:xfrm>
          <a:prstGeom prst="rect">
            <a:avLst/>
          </a:prstGeom>
          <a:solidFill>
            <a:srgbClr val="33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D6E4"/>
                </a:solidFill>
                <a:latin typeface="Segoe UI"/>
              </a:rPr>
              <a:t>What is proven
- One global model, ~7% error on an unseen city
- 43 automated tests passing
- 584 cities, 2665 zones monitored
- Every factor inspectable and labelled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88620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D6E4"/>
                </a:solidFill>
                <a:latin typeface="Segoe UI"/>
              </a:rPr>
              <a:t>What is honest
- Demo runs on synthetic data
- Economics and disaster are planning factors
- Transfers are suggestions, not commands
- The optimiser never touches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B7F"/>
                </a:solidFill>
                <a:latin typeface="Segoe UI"/>
              </a:rPr>
              <a:t>AquaPulse  ·  Smart Water Redistribution  ·  SE Smart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